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Salam pembuka. Perkenalkan topik Modul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lo-klas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awar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02920"/>
            <a:ext cx="5852160" cy="5852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1737360"/>
            <a:ext cx="499262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99262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15121E"/>
                </a:solidFill>
                <a:latin typeface="Segoe UI"/>
              </a:rPr>
              <a:t>PENDIDIKAN MATEMATIKA SD · MODUL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57784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15121E"/>
                </a:solidFill>
                <a:latin typeface="Segoe UI"/>
              </a:rPr>
              <a:t>Bangun Ruang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5394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558"/>
                </a:solidFill>
                <a:latin typeface="Segoe UI"/>
              </a:rPr>
              <a:t>Mengenal kubus, balok, prisma, limas, tabung, kerucut, dan bola, lalu membawanya ke kelas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lo-mutia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DIPRESENTASIKAN OLEH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0" b="1">
                <a:solidFill>
                  <a:srgbClr val="1D1A22"/>
                </a:solidFill>
                <a:latin typeface="Segoe UI"/>
              </a:rPr>
              <a:t>Kelompok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4571" y="4389120"/>
            <a:ext cx="3456432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744571" y="4389120"/>
            <a:ext cx="3456432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1A22"/>
                </a:solidFill>
                <a:latin typeface="Segoe UI"/>
              </a:rPr>
              <a:t>Pendidikan Matematika SD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29603" y="438912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29603" y="4389120"/>
            <a:ext cx="301752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1A22"/>
                </a:solidFill>
                <a:latin typeface="Segoe UI"/>
              </a:rPr>
              <a:t>Tutor: ⟨ISI SENDIRI⟩</a:t>
            </a:r>
          </a:p>
        </p:txBody>
      </p:sp>
      <p:pic>
        <p:nvPicPr>
          <p:cNvPr id="9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lo-op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ANGGOTA KELOMPOK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5121E"/>
                </a:solidFill>
                <a:latin typeface="Segoe UI"/>
              </a:rPr>
              <a:t>Kami berlima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027" y="2651760"/>
            <a:ext cx="3429000" cy="86868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33475" y="278892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6707" y="2761488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21E"/>
                </a:solidFill>
                <a:latin typeface="Segoe UI"/>
              </a:rPr>
              <a:t>Nama Anggota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6707" y="3108960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NIM 0000000001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347" y="2651760"/>
            <a:ext cx="3429000" cy="86868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36795" y="278892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0027" y="2761488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21E"/>
                </a:solidFill>
                <a:latin typeface="Segoe UI"/>
              </a:rPr>
              <a:t>Nama Anggota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0027" y="3108960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NIM 0000000002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651760"/>
            <a:ext cx="3429000" cy="86868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40115" y="278892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347" y="2761488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21E"/>
                </a:solidFill>
                <a:latin typeface="Segoe UI"/>
              </a:rPr>
              <a:t>Nama Anggota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347" y="3108960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NIM 0000000003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9687" y="3840479"/>
            <a:ext cx="3429000" cy="86868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2685135" y="3977639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3950207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21E"/>
                </a:solidFill>
                <a:latin typeface="Segoe UI"/>
              </a:rPr>
              <a:t>Nama Anggota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367" y="4297679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NIM 0000000004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840479"/>
            <a:ext cx="3429000" cy="86868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8455" y="3977639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1687" y="3950207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21E"/>
                </a:solidFill>
                <a:latin typeface="Segoe UI"/>
              </a:rPr>
              <a:t>Nama Anggota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297679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NIM 0000000005</a:t>
            </a:r>
          </a:p>
        </p:txBody>
      </p:sp>
      <p:pic>
        <p:nvPicPr>
          <p:cNvPr id="25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faj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410"/>
                </a:solidFill>
                <a:latin typeface="Segoe UI"/>
              </a:rPr>
              <a:t>Yang akan kita bahas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514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20927" y="2633472"/>
            <a:ext cx="585216" cy="58521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447" y="251460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1410"/>
                </a:solidFill>
                <a:latin typeface="Segoe UI"/>
              </a:rPr>
              <a:t>Pengertian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2514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87087" y="2633472"/>
            <a:ext cx="585216" cy="58521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8607" y="251460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1410"/>
                </a:solidFill>
                <a:latin typeface="Segoe UI"/>
              </a:rPr>
              <a:t>Unsur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087" y="2514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153247" y="2633472"/>
            <a:ext cx="585216" cy="58521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4767" y="251460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1410"/>
                </a:solidFill>
                <a:latin typeface="Segoe UI"/>
              </a:rPr>
              <a:t>Jenis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6847" y="3657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804007" y="3776472"/>
            <a:ext cx="585216" cy="58521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365760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1410"/>
                </a:solidFill>
                <a:latin typeface="Segoe UI"/>
              </a:rPr>
              <a:t>Jaring-jaring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657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70167" y="3776472"/>
            <a:ext cx="585216" cy="58521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365760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1410"/>
                </a:solidFill>
                <a:latin typeface="Segoe UI"/>
              </a:rPr>
              <a:t>Volume</a:t>
            </a:r>
          </a:p>
        </p:txBody>
      </p:sp>
      <p:pic>
        <p:nvPicPr>
          <p:cNvPr id="20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lang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PENGERTIAN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1A33"/>
                </a:solidFill>
                <a:latin typeface="Segoe UI"/>
              </a:rPr>
              <a:t>Bangun ruang punya 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1A33"/>
                </a:solidFill>
                <a:latin typeface="Segoe UI"/>
              </a:rPr>
              <a:t>Definisi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Bangun tiga dimensi yang dibatasi sisi-sisi, sehingga punya panjang, lebar, tinggi, dan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0187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1A33"/>
                </a:solidFill>
                <a:latin typeface="Segoe UI"/>
              </a:rPr>
              <a:t>Datar atau ruang?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7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Persegi hanya punya panjang dan lebar. Kubus menambahkan tinggi, sehingga bisa diisi.</a:t>
            </a:r>
          </a:p>
        </p:txBody>
      </p:sp>
      <p:pic>
        <p:nvPicPr>
          <p:cNvPr id="11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lav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UNSUR BANGUN RUANG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1430"/>
                </a:solidFill>
                <a:latin typeface="Segoe UI"/>
              </a:rPr>
              <a:t>Sisi, rusuk, titik sudut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B1430"/>
                </a:solidFill>
                <a:latin typeface="Segoe UI"/>
              </a:rPr>
              <a:t>Sisi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Bidang yang membatasi bangun ruang.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88738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B1430"/>
                </a:solidFill>
                <a:latin typeface="Segoe UI"/>
              </a:rPr>
              <a:t>Rusuk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Garis pertemuan dua sisi.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1636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B1430"/>
                </a:solidFill>
                <a:latin typeface="Segoe UI"/>
              </a:rPr>
              <a:t>Titik sudut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1636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Titik pertemuan tiga rusuk atau lebih.</a:t>
            </a:r>
          </a:p>
        </p:txBody>
      </p:sp>
      <p:pic>
        <p:nvPicPr>
          <p:cNvPr id="14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ment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SISI DATAR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60B"/>
                </a:solidFill>
                <a:latin typeface="Segoe UI"/>
              </a:rPr>
              <a:t>Kubus dan balok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160B"/>
                </a:solidFill>
                <a:latin typeface="Segoe UI"/>
              </a:rPr>
              <a:t>Kubus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6 sisi persegi yang sama besar, 12 rusuk sama panjang, 8 titik sudut.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0187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160B"/>
                </a:solidFill>
                <a:latin typeface="Segoe UI"/>
              </a:rPr>
              <a:t>Balok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7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6 sisi persegi panjang (3 pasang sama besar), 12 rusuk, 8 titik sudut.</a:t>
            </a:r>
          </a:p>
        </p:txBody>
      </p:sp>
      <p:pic>
        <p:nvPicPr>
          <p:cNvPr id="11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sak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SISI DATAR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111B"/>
                </a:solidFill>
                <a:latin typeface="Segoe UI"/>
              </a:rPr>
              <a:t>Prisma dan limas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111B"/>
                </a:solidFill>
                <a:latin typeface="Segoe UI"/>
              </a:rPr>
              <a:t>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Alas dan tutup sama besar dan sejajar; sisi tegaknya persegi panjang.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514600"/>
            <a:ext cx="5204307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0187" y="2724912"/>
            <a:ext cx="46556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111B"/>
                </a:solidFill>
                <a:latin typeface="Segoe UI"/>
              </a:rPr>
              <a:t>Limas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7" y="3337560"/>
            <a:ext cx="4655667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Satu alas segi banyak; sisi tegaknya segitiga yang bertemu di titik puncak.</a:t>
            </a:r>
          </a:p>
        </p:txBody>
      </p:sp>
      <p:pic>
        <p:nvPicPr>
          <p:cNvPr id="11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pelan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SISI LENGKUNG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Tabung, kerucut, bola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Tabung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Dua sisi lingkaran dan satu selimut lengkung.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88738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Kerucut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Satu alas lingkaran, selimut lengkung, satu titik puncak.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2514600"/>
            <a:ext cx="3362858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1636" y="2724912"/>
            <a:ext cx="281421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Bola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1636" y="3337560"/>
            <a:ext cx="2814218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558"/>
                </a:solidFill>
                <a:latin typeface="Segoe UI"/>
              </a:rPr>
              <a:t>Satu sisi lengkung, tanpa rusuk dan titik sudut.</a:t>
            </a:r>
          </a:p>
        </p:txBody>
      </p:sp>
      <p:pic>
        <p:nvPicPr>
          <p:cNvPr id="14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emb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JARING-JARING KUBUS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6600" b="1">
                <a:solidFill>
                  <a:srgbClr val="132019"/>
                </a:solidFill>
                <a:latin typeface="Segoe UI"/>
              </a:rPr>
              <a:t>Ada 11 bentuk.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48495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4558"/>
                </a:solidFill>
                <a:latin typeface="Segoe UI"/>
              </a:rPr>
              <a:t>Sebelas susunan enam persegi yang bisa dilipat menjadi kubus. Ajak siswa menemukannya sendiri.</a:t>
            </a:r>
          </a:p>
        </p:txBody>
      </p:sp>
      <p:pic>
        <p:nvPicPr>
          <p:cNvPr id="6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mad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RUMUS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1170A"/>
                </a:solidFill>
                <a:latin typeface="Segoe UI"/>
              </a:rPr>
              <a:t>Luas alas kali tinggi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237744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7" y="250545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Kubus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7" y="292608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s × s ×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7691" y="237744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78859" y="250545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Balok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8859" y="292608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p × l ×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37744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031" y="250545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Prisma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1" y="292608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La ×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3364992"/>
            <a:ext cx="21243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4558"/>
                </a:solidFill>
                <a:latin typeface="Segoe UI"/>
              </a:rPr>
              <a:t>La = luas alas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035" y="237744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71203" y="250545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Limas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203" y="292608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⅓ × La × 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4605" y="406908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05773" y="419709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Tabung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5773" y="461772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π × r² × 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0777" y="406908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51945" y="419709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Kerucut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1945" y="461772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⅓ × π × r² ×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6949" y="4069080"/>
            <a:ext cx="2490139" cy="1417320"/>
          </a:xfrm>
          <a:prstGeom prst="roundRect">
            <a:avLst>
              <a:gd name="adj" fmla="val 14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98117" y="4197096"/>
            <a:ext cx="21243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170A"/>
                </a:solidFill>
                <a:latin typeface="Segoe UI"/>
              </a:rPr>
              <a:t>Bola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8117" y="4617720"/>
            <a:ext cx="21243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45309"/>
                </a:solidFill>
                <a:latin typeface="Segoe UI"/>
              </a:rPr>
              <a:t>⁴⁄₃ × π × r³</a:t>
            </a:r>
          </a:p>
        </p:txBody>
      </p:sp>
      <p:pic>
        <p:nvPicPr>
          <p:cNvPr id="27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-jende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13232"/>
            <a:ext cx="1063721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4A4558"/>
                </a:solidFill>
                <a:latin typeface="Segoe UI"/>
              </a:rPr>
              <a:t>DI KELAS 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D170C"/>
                </a:solidFill>
                <a:latin typeface="Segoe UI"/>
              </a:rPr>
              <a:t>Mulai dari benda nyata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8655" cy="2386584"/>
          </a:xfrm>
          <a:prstGeom prst="roundRect">
            <a:avLst>
              <a:gd name="adj" fmla="val 8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10088575" cy="19751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D170C"/>
                </a:solidFill>
                <a:latin typeface="Segoe UI"/>
              </a:rPr>
              <a:t>•  Kumpulkan kardus, kaleng, dan bola dari rumah.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D170C"/>
                </a:solidFill>
                <a:latin typeface="Segoe UI"/>
              </a:rPr>
              <a:t>•  Buka kardus menjadi jaring-jaring.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D170C"/>
                </a:solidFill>
                <a:latin typeface="Segoe UI"/>
              </a:rPr>
              <a:t>•  Isi kotak dengan kubus satuan untuk menghitung volume.</a:t>
            </a:r>
          </a:p>
        </p:txBody>
      </p:sp>
      <p:pic>
        <p:nvPicPr>
          <p:cNvPr id="7" name="Mawar pojok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83" y="128016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lo-senj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awar" descr="ma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320040"/>
            <a:ext cx="356616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069080"/>
            <a:ext cx="10728655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24130F"/>
                </a:solidFill>
                <a:latin typeface="Segoe UI"/>
              </a:rPr>
              <a:t>Terima kasih.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72865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4A4558"/>
                </a:solidFill>
                <a:latin typeface="Segoe UI"/>
              </a:rPr>
              <a:t>Kelompok 5 · Pendidikan Matematika SD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